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4980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Complaint Classification — Training Data Procurement Strategy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503920" y="128016"/>
            <a:ext cx="1645920" cy="493776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128016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259568" y="128016"/>
            <a:ext cx="1737360" cy="493776"/>
          </a:xfrm>
          <a:prstGeom prst="rect">
            <a:avLst/>
          </a:prstGeom>
          <a:solidFill>
            <a:srgbClr val="40404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59568" y="128016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2, 2026  |  1×1 Sid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2880" y="786384"/>
            <a:ext cx="1179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›  THE SCORING MODEL  ›  TIER SYSTEM  ›  EXECUTION PLAN  ›  SME CAPACITY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64592" y="1042416"/>
            <a:ext cx="3291840" cy="246888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4592" y="1042416"/>
            <a:ext cx="3291840" cy="292608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042416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SKEW PROBLEM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92608" y="1408176"/>
            <a:ext cx="3035808" cy="694944"/>
          </a:xfrm>
          <a:prstGeom prst="rect">
            <a:avLst/>
          </a:prstGeom>
          <a:solidFill>
            <a:srgbClr val="FFF4CC"/>
          </a:solidFill>
          <a:ln w="12700">
            <a:solidFill>
              <a:srgbClr val="FFE4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1426464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243+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481328" y="1426464"/>
            <a:ext cx="1956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Reasons to solve for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35 L1 categories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" y="2176272"/>
            <a:ext cx="3035808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249424"/>
            <a:ext cx="303580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volume is severely skewed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L2s = ~60% of all cases; 150+ L2s
are near-invisible in raw DB data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 raw data = </a:t>
            </a:r>
            <a:pPr indent="0" marL="0">
              <a:buNone/>
            </a:pPr>
            <a:r>
              <a:rPr lang="en-US" sz="950" b="1" dirty="0">
                <a:solidFill>
                  <a:srgbClr val="CC9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blind to the regulatory long tail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21024" y="1042416"/>
            <a:ext cx="4626864" cy="246888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21024" y="1042416"/>
            <a:ext cx="4626864" cy="292608"/>
          </a:xfrm>
          <a:prstGeom prst="rect">
            <a:avLst/>
          </a:prstGeom>
          <a:solidFill>
            <a:srgbClr val="323232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30752" y="104241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RISK SCORE — RANKING ALL 243 L2 REASONS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749040" y="1408176"/>
            <a:ext cx="4370832" cy="43891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1408176"/>
            <a:ext cx="4370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 =  0.35 × Volume Score  +  0.40 × Disagreement Score  +  0.25 × Complexity Score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749040" y="1920240"/>
            <a:ext cx="1389888" cy="1536192"/>
          </a:xfrm>
          <a:prstGeom prst="rect">
            <a:avLst/>
          </a:prstGeom>
          <a:solidFill>
            <a:srgbClr val="FFF4C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49040" y="1920240"/>
            <a:ext cx="1389888" cy="256032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19202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 0.35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813048" y="219456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Score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13048" y="241401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Rarity in 6-month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ground truth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813048" y="2779776"/>
            <a:ext cx="126187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13048" y="281635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frequency — rare L2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HIGH (needs more data)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813048" y="318211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only. No model</a:t>
            </a:r>
            <a:endParaRPr lang="en-US" sz="700" dirty="0"/>
          </a:p>
          <a:p>
            <a:pPr indent="0" marL="0">
              <a:buNone/>
            </a:pPr>
            <a:r>
              <a:rPr lang="en-US" sz="7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required.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193792" y="1920240"/>
            <a:ext cx="1389888" cy="1536192"/>
          </a:xfrm>
          <a:prstGeom prst="rect">
            <a:avLst/>
          </a:prstGeom>
          <a:solidFill>
            <a:srgbClr val="EBEBEB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93792" y="1920240"/>
            <a:ext cx="1389888" cy="256032"/>
          </a:xfrm>
          <a:prstGeom prst="rect">
            <a:avLst/>
          </a:prstGeom>
          <a:solidFill>
            <a:srgbClr val="323232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93792" y="19202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 0.40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257800" y="219456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Score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57800" y="241401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confusion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vs Nova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257800" y="2779776"/>
            <a:ext cx="126187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57800" y="281635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distance on Stage 1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per case, avg'd per L2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257800" y="318211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Stage 1 on full</a:t>
            </a:r>
            <a:endParaRPr lang="en-US" sz="700" dirty="0"/>
          </a:p>
          <a:p>
            <a:pPr indent="0" marL="0">
              <a:buNone/>
            </a:pPr>
            <a:r>
              <a:rPr lang="en-US" sz="7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dataset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638544" y="1920240"/>
            <a:ext cx="1389888" cy="1536192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38544" y="1920240"/>
            <a:ext cx="1389888" cy="256032"/>
          </a:xfrm>
          <a:prstGeom prst="rect">
            <a:avLst/>
          </a:prstGeom>
          <a:solidFill>
            <a:srgbClr val="585858"/>
          </a:solidFill>
          <a:ln w="12700">
            <a:solidFill>
              <a:srgbClr val="58585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38544" y="192024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 0.25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702552" y="219456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Score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702552" y="241401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ambiguity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L2 in taxonomy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702552" y="2779776"/>
            <a:ext cx="126187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02552" y="281635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L1s this L2 maps to ÷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L1 mappings in taxonomy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702552" y="318211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Static. From L1_L2.xlsx.</a:t>
            </a:r>
            <a:endParaRPr lang="en-US" sz="700" dirty="0"/>
          </a:p>
          <a:p>
            <a:pPr indent="0" marL="0">
              <a:buNone/>
            </a:pPr>
            <a:r>
              <a:rPr lang="en-US" sz="7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computation.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8412480" y="1042416"/>
            <a:ext cx="3584448" cy="2468880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412480" y="1042416"/>
            <a:ext cx="3584448" cy="29260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22208" y="1042416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4-TIER SAMPLING SYSTEM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522208" y="1371600"/>
            <a:ext cx="3364992" cy="219456"/>
          </a:xfrm>
          <a:prstGeom prst="rect">
            <a:avLst/>
          </a:prstGeom>
          <a:solidFill>
            <a:srgbClr val="EBEBEB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22208" y="137160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9820656" y="13716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1100816" y="137160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8522208" y="1627632"/>
            <a:ext cx="3364992" cy="402336"/>
          </a:xfrm>
          <a:prstGeom prst="rect">
            <a:avLst/>
          </a:prstGeom>
          <a:solidFill>
            <a:srgbClr val="FFF4C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522208" y="1627632"/>
            <a:ext cx="54864" cy="402336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13648" y="164592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 Critical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613648" y="184708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L2s · 4,000 cases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9820656" y="1645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≥ 0.65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11100816" y="1645920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9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L2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522208" y="2066544"/>
            <a:ext cx="3364992" cy="402336"/>
          </a:xfrm>
          <a:prstGeom prst="rect">
            <a:avLst/>
          </a:prstGeom>
          <a:solidFill>
            <a:srgbClr val="FFF8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522208" y="2066544"/>
            <a:ext cx="54864" cy="402336"/>
          </a:xfrm>
          <a:prstGeom prst="rect">
            <a:avLst/>
          </a:prstGeom>
          <a:solidFill>
            <a:srgbClr val="D4A000"/>
          </a:solidFill>
          <a:ln w="12700">
            <a:solidFill>
              <a:srgbClr val="D4A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13648" y="208483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 Important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8613648" y="228600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L2s · 2,800 cases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9820656" y="20848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 ≤ Risk &lt; 0.65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1100816" y="2084832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L2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8522208" y="2505456"/>
            <a:ext cx="3364992" cy="402336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522208" y="2505456"/>
            <a:ext cx="54864" cy="402336"/>
          </a:xfrm>
          <a:prstGeom prst="rect">
            <a:avLst/>
          </a:prstGeom>
          <a:solidFill>
            <a:srgbClr val="323232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13648" y="2523744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 Maintain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8613648" y="272491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L2s · 1,200 cases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9820656" y="252374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&lt; 0.45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11100816" y="252374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L2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8522208" y="2944368"/>
            <a:ext cx="3364992" cy="402336"/>
          </a:xfrm>
          <a:prstGeom prst="rect">
            <a:avLst/>
          </a:prstGeom>
          <a:solidFill>
            <a:srgbClr val="E8E8E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522208" y="2944368"/>
            <a:ext cx="54864" cy="40233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613648" y="296265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  Rare/Ghost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8613648" y="3163824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 L2s · ~200 cases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9820656" y="296265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&lt; 5 cases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11100816" y="2962656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avail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8522208" y="3310128"/>
            <a:ext cx="3364992" cy="219456"/>
          </a:xfrm>
          <a:prstGeom prst="rect">
            <a:avLst/>
          </a:prstGeom>
          <a:solidFill>
            <a:srgbClr val="FFF4CC"/>
          </a:solidFill>
          <a:ln w="12700">
            <a:solidFill>
              <a:srgbClr val="FFE47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577072" y="3310128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C9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ceiling: no single L2 &gt; 5% of total training corpus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164592" y="3621024"/>
            <a:ext cx="5212080" cy="2176272"/>
          </a:xfrm>
          <a:prstGeom prst="rect">
            <a:avLst/>
          </a:prstGeom>
          <a:solidFill>
            <a:srgbClr val="323232"/>
          </a:solidFill>
          <a:ln w="12700">
            <a:solidFill>
              <a:srgbClr val="3232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329184" y="3712464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EXECUTION  —  20-WEEK PLAN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329184" y="4023360"/>
            <a:ext cx="566928" cy="219456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29184" y="402336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950976" y="402336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E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1–10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603504" y="4279392"/>
            <a:ext cx="0" cy="237744"/>
          </a:xfrm>
          <a:prstGeom prst="line">
            <a:avLst/>
          </a:prstGeom>
          <a:noFill/>
          <a:ln w="12700">
            <a:solidFill>
              <a:srgbClr val="FFB700"/>
            </a:solidFill>
            <a:prstDash val="sysDot"/>
          </a:ln>
        </p:spPr>
      </p:sp>
      <p:sp>
        <p:nvSpPr>
          <p:cNvPr id="86" name="Text 84"/>
          <p:cNvSpPr/>
          <p:nvPr/>
        </p:nvSpPr>
        <p:spPr>
          <a:xfrm>
            <a:off x="1755648" y="402336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Critical  (~4,000 cases)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1755648" y="4242816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Highest-risk L2s. SMEs validate &amp; correct. Train first fine-tuned model. Measure accuracy before Phase 2.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329184" y="4572000"/>
            <a:ext cx="566928" cy="219456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29184" y="457200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950976" y="457200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11–17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603504" y="4828032"/>
            <a:ext cx="0" cy="237744"/>
          </a:xfrm>
          <a:prstGeom prst="line">
            <a:avLst/>
          </a:prstGeom>
          <a:noFill/>
          <a:ln w="12700">
            <a:solidFill>
              <a:srgbClr val="888888"/>
            </a:solidFill>
            <a:prstDash val="sysDot"/>
          </a:ln>
        </p:spPr>
      </p:sp>
      <p:sp>
        <p:nvSpPr>
          <p:cNvPr id="92" name="Text 90"/>
          <p:cNvSpPr/>
          <p:nvPr/>
        </p:nvSpPr>
        <p:spPr>
          <a:xfrm>
            <a:off x="1755648" y="457200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Important  (~2,800 cases)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1755648" y="4791456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Medium-risk L2s. Retrain on cumulative corpus. Measure accuracy delta vs Phase 1 baseline.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329184" y="5120640"/>
            <a:ext cx="566928" cy="219456"/>
          </a:xfrm>
          <a:prstGeom prst="rect">
            <a:avLst/>
          </a:prstGeom>
          <a:solidFill>
            <a:srgbClr val="585858"/>
          </a:solidFill>
          <a:ln w="12700">
            <a:solidFill>
              <a:srgbClr val="58585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29184" y="512064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950976" y="512064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18–20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1755648" y="512064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+ Tier 4  (~1,400 cases)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1755648" y="5340096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rare L2s. Final training pass. Ghost L2s flagged for taxonomy review.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329184" y="5486400"/>
            <a:ext cx="4956048" cy="219456"/>
          </a:xfrm>
          <a:prstGeom prst="rect">
            <a:avLst/>
          </a:prstGeom>
          <a:solidFill>
            <a:srgbClr val="1E1E1E"/>
          </a:solidFill>
          <a:ln w="12700">
            <a:solidFill>
              <a:srgbClr val="48484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84048" y="5486400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8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model available after Week 10 — no 20-week wait for first results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5541264" y="3621024"/>
            <a:ext cx="3255264" cy="2176272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5541264" y="3621024"/>
            <a:ext cx="3255264" cy="292608"/>
          </a:xfrm>
          <a:prstGeom prst="rect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650992" y="36210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SELECTION PRIORITY (per L2)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5669280" y="3968496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each L2's candidate pool, rank cases in this order: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5669280" y="4242816"/>
            <a:ext cx="237744" cy="237744"/>
          </a:xfrm>
          <a:prstGeom prst="ellipse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669280" y="42428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5961888" y="4233672"/>
            <a:ext cx="2724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Model Disagreement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5961888" y="4398264"/>
            <a:ext cx="2724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≠ Nova on Stage 1 → model most confused here → highest training value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5669280" y="4590288"/>
            <a:ext cx="237744" cy="237744"/>
          </a:xfrm>
          <a:prstGeom prst="ellipse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669280" y="45902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5961888" y="4581144"/>
            <a:ext cx="2724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Multi-Intent Cases (2–4 L2s)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5961888" y="4745736"/>
            <a:ext cx="2724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model co-occurrence patterns essential for multi-intent handling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5669280" y="4937760"/>
            <a:ext cx="237744" cy="237744"/>
          </a:xfrm>
          <a:prstGeom prst="ellipse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669280" y="4937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5961888" y="4928616"/>
            <a:ext cx="2724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as Primary Reason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5961888" y="5093208"/>
            <a:ext cx="2724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ORG_Reason preferred over ORG_ADNL_Reason — cleaner training signal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5669280" y="5285232"/>
            <a:ext cx="237744" cy="237744"/>
          </a:xfrm>
          <a:prstGeom prst="ellipse">
            <a:avLst/>
          </a:prstGeom>
          <a:solidFill>
            <a:srgbClr val="FFB700"/>
          </a:solidFill>
          <a:ln w="12700">
            <a:solidFill>
              <a:srgbClr val="FFB70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669280" y="52852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19" name="Text 117"/>
          <p:cNvSpPr/>
          <p:nvPr/>
        </p:nvSpPr>
        <p:spPr>
          <a:xfrm>
            <a:off x="5961888" y="5276088"/>
            <a:ext cx="2724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Remaining Cases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5961888" y="5440680"/>
            <a:ext cx="2724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disagreement, single-intent — select only if target count not reached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8961120" y="3621024"/>
            <a:ext cx="3035808" cy="2176272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2" name="Shape 120"/>
          <p:cNvSpPr/>
          <p:nvPr/>
        </p:nvSpPr>
        <p:spPr>
          <a:xfrm>
            <a:off x="8961120" y="3621024"/>
            <a:ext cx="3035808" cy="292608"/>
          </a:xfrm>
          <a:prstGeom prst="rect">
            <a:avLst/>
          </a:prstGeom>
          <a:solidFill>
            <a:srgbClr val="323232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9070848" y="3621024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VALIDATION CAPACITY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9107424" y="3986784"/>
            <a:ext cx="1335024" cy="566928"/>
          </a:xfrm>
          <a:prstGeom prst="rect">
            <a:avLst/>
          </a:prstGeom>
          <a:solidFill>
            <a:srgbClr val="FFF4CC"/>
          </a:solidFill>
          <a:ln w="12700">
            <a:solidFill>
              <a:srgbClr val="FFE47A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9107424" y="4023360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9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SMEs</a:t>
            </a:r>
            <a:endParaRPr lang="en-US" sz="1700" dirty="0"/>
          </a:p>
        </p:txBody>
      </p:sp>
      <p:sp>
        <p:nvSpPr>
          <p:cNvPr id="126" name="Text 124"/>
          <p:cNvSpPr/>
          <p:nvPr/>
        </p:nvSpPr>
        <p:spPr>
          <a:xfrm>
            <a:off x="9107424" y="4334256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50% capacity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10497312" y="3986784"/>
            <a:ext cx="1335024" cy="566928"/>
          </a:xfrm>
          <a:prstGeom prst="rect">
            <a:avLst/>
          </a:prstGeom>
          <a:solidFill>
            <a:srgbClr val="FFF4CC"/>
          </a:solidFill>
          <a:ln w="12700">
            <a:solidFill>
              <a:srgbClr val="FFE47A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10497312" y="4023360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9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hrs</a:t>
            </a:r>
            <a:endParaRPr lang="en-US" sz="1700" dirty="0"/>
          </a:p>
        </p:txBody>
      </p:sp>
      <p:sp>
        <p:nvSpPr>
          <p:cNvPr id="129" name="Text 127"/>
          <p:cNvSpPr/>
          <p:nvPr/>
        </p:nvSpPr>
        <p:spPr>
          <a:xfrm>
            <a:off x="10497312" y="4334256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combined/week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9107424" y="4626864"/>
            <a:ext cx="1335024" cy="566928"/>
          </a:xfrm>
          <a:prstGeom prst="rect">
            <a:avLst/>
          </a:prstGeom>
          <a:solidFill>
            <a:srgbClr val="FFF4CC"/>
          </a:solidFill>
          <a:ln w="12700">
            <a:solidFill>
              <a:srgbClr val="FFE47A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9107424" y="4663440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9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min</a:t>
            </a:r>
            <a:endParaRPr lang="en-US" sz="1700" dirty="0"/>
          </a:p>
        </p:txBody>
      </p:sp>
      <p:sp>
        <p:nvSpPr>
          <p:cNvPr id="132" name="Text 130"/>
          <p:cNvSpPr/>
          <p:nvPr/>
        </p:nvSpPr>
        <p:spPr>
          <a:xfrm>
            <a:off x="9107424" y="4974336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case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10497312" y="4626864"/>
            <a:ext cx="1335024" cy="566928"/>
          </a:xfrm>
          <a:prstGeom prst="rect">
            <a:avLst/>
          </a:prstGeom>
          <a:solidFill>
            <a:srgbClr val="FFF4CC"/>
          </a:solidFill>
          <a:ln w="12700">
            <a:solidFill>
              <a:srgbClr val="FFE47A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0497312" y="4663440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C9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</a:t>
            </a:r>
            <a:endParaRPr lang="en-US" sz="1700" dirty="0"/>
          </a:p>
        </p:txBody>
      </p:sp>
      <p:sp>
        <p:nvSpPr>
          <p:cNvPr id="135" name="Text 133"/>
          <p:cNvSpPr/>
          <p:nvPr/>
        </p:nvSpPr>
        <p:spPr>
          <a:xfrm>
            <a:off x="10497312" y="4974336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cases/week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9089136" y="5431536"/>
            <a:ext cx="2779776" cy="292608"/>
          </a:xfrm>
          <a:prstGeom prst="rect">
            <a:avLst/>
          </a:prstGeom>
          <a:solidFill>
            <a:srgbClr val="FFF4CC"/>
          </a:solidFill>
          <a:ln w="12700">
            <a:solidFill>
              <a:srgbClr val="FFE47A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9144000" y="5440680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monthly IRR cases </a:t>
            </a:r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within Phase 1 capacity.
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CC9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backlog. No bottleneck.</a:t>
            </a:r>
            <a:endParaRPr lang="en-US" sz="750" dirty="0"/>
          </a:p>
        </p:txBody>
      </p:sp>
      <p:sp>
        <p:nvSpPr>
          <p:cNvPr id="138" name="Shape 136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237744" y="65653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Synchrony Financial  |  IRR Innovation Team  |  Prepared by: Mainak  |  Confidential</a:t>
            </a:r>
            <a:endParaRPr lang="en-US" sz="750" dirty="0"/>
          </a:p>
        </p:txBody>
      </p:sp>
      <p:sp>
        <p:nvSpPr>
          <p:cNvPr id="140" name="Text 138"/>
          <p:cNvSpPr/>
          <p:nvPr/>
        </p:nvSpPr>
        <p:spPr>
          <a:xfrm>
            <a:off x="8229600" y="65653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Required: $250K–$285K  |  SLT Approval Pending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2026-03-02T08:52:18Z</dcterms:created>
  <dcterms:modified xsi:type="dcterms:W3CDTF">2026-03-02T08:52:18Z</dcterms:modified>
</cp:coreProperties>
</file>